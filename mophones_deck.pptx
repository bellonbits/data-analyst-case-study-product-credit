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1A1A2E"/>
                </a:solidFill>
                <a:latin typeface="Arial"/>
              </a:defRPr>
            </a:pPr>
            <a:r>
              <a:rPr sz="1000" b="1" i="0" u="none" strike="noStrike">
                <a:solidFill>
                  <a:srgbClr val="1A1A2E"/>
                </a:solidFill>
                <a:latin typeface="Arial"/>
              </a:rPr>
              <a:t>PAR30+ and NPL Rate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PAR30+ Rate (%)</c:v>
                </c:pt>
              </c:strCache>
            </c:strRef>
          </c:tx>
          <c:spPr>
            <a:solidFill>
              <a:srgbClr val="E85D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Mar</c:v>
                  </c:pt>
                  <c:pt idx="2">
                    <c:v>Jun</c:v>
                  </c:pt>
                  <c:pt idx="3">
                    <c:v>Sep</c:v>
                  </c:pt>
                  <c:pt idx="4">
                    <c:v>Dec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35.4</c:v>
                </c:pt>
                <c:pt idx="1">
                  <c:v>38.7</c:v>
                </c:pt>
                <c:pt idx="2">
                  <c:v>38.6</c:v>
                </c:pt>
                <c:pt idx="3">
                  <c:v>39</c:v>
                </c:pt>
                <c:pt idx="4">
                  <c:v>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NPL Rate (%)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Mar</c:v>
                  </c:pt>
                  <c:pt idx="2">
                    <c:v>Jun</c:v>
                  </c:pt>
                  <c:pt idx="3">
                    <c:v>Sep</c:v>
                  </c:pt>
                  <c:pt idx="4">
                    <c:v>Dec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13.6</c:v>
                </c:pt>
                <c:pt idx="1">
                  <c:v>16.2</c:v>
                </c:pt>
                <c:pt idx="2">
                  <c:v>17.3</c:v>
                </c:pt>
                <c:pt idx="3">
                  <c:v>18.3</c:v>
                </c:pt>
                <c:pt idx="4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1A1A2E"/>
                </a:solidFill>
                <a:latin typeface="Arial"/>
              </a:defRPr>
            </a:pPr>
            <a:r>
              <a:rPr sz="1000" b="1" i="0" u="none" strike="noStrike">
                <a:solidFill>
                  <a:srgbClr val="1A1A2E"/>
                </a:solidFill>
                <a:latin typeface="Arial"/>
              </a:rPr>
              <a:t>Collection Rate &amp; Total Arrears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Collection Rate (%)</c:v>
                </c:pt>
              </c:strCache>
            </c:strRef>
          </c:tx>
          <c:spPr>
            <a:solidFill>
              <a:srgbClr val="2E8B57"/>
            </a:solidFill>
            <a:ln w="31750" cap="flat">
              <a:solidFill>
                <a:srgbClr val="2E8B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E8B5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Mar</c:v>
                  </c:pt>
                  <c:pt idx="2">
                    <c:v>Jun</c:v>
                  </c:pt>
                  <c:pt idx="3">
                    <c:v>Sep</c:v>
                  </c:pt>
                  <c:pt idx="4">
                    <c:v>Dec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75.3</c:v>
                </c:pt>
                <c:pt idx="1">
                  <c:v>72.8</c:v>
                </c:pt>
                <c:pt idx="2">
                  <c:v>71.5</c:v>
                </c:pt>
                <c:pt idx="3">
                  <c:v>71.5</c:v>
                </c:pt>
                <c:pt idx="4">
                  <c:v>72.3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E8B5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Total Arrears (KES M)</c:v>
                </c:pt>
              </c:strCache>
            </c:strRef>
          </c:tx>
          <c:spPr>
            <a:solidFill>
              <a:srgbClr val="F4A3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Mar</c:v>
                  </c:pt>
                  <c:pt idx="2">
                    <c:v>Jun</c:v>
                  </c:pt>
                  <c:pt idx="3">
                    <c:v>Sep</c:v>
                  </c:pt>
                  <c:pt idx="4">
                    <c:v>Dec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98</c:v>
                </c:pt>
                <c:pt idx="1">
                  <c:v>149</c:v>
                </c:pt>
                <c:pt idx="2">
                  <c:v>204</c:v>
                </c:pt>
                <c:pt idx="3">
                  <c:v>255</c:v>
                </c:pt>
                <c:pt idx="4">
                  <c:v>304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3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11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Portfolio Analysis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2128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– Product &amp; Credit Case Study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697480"/>
            <a:ext cx="5486400" cy="27432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944368"/>
            <a:ext cx="2606040" cy="1554480"/>
          </a:xfrm>
          <a:prstGeom prst="rect">
            <a:avLst/>
          </a:prstGeom>
          <a:solidFill>
            <a:srgbClr val="253D6E"/>
          </a:solidFill>
          <a:ln w="12700">
            <a:solidFill>
              <a:srgbClr val="253D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" y="30632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0352" y="34747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3822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evaluation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944368"/>
            <a:ext cx="2606040" cy="1554480"/>
          </a:xfrm>
          <a:prstGeom prst="rect">
            <a:avLst/>
          </a:prstGeom>
          <a:solidFill>
            <a:srgbClr val="253D6E"/>
          </a:solidFill>
          <a:ln w="12700">
            <a:solidFill>
              <a:srgbClr val="253D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10712" y="30632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10712" y="34747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× Experience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10712" y="3822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of evaluation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944368"/>
            <a:ext cx="2606040" cy="1554480"/>
          </a:xfrm>
          <a:prstGeom prst="rect">
            <a:avLst/>
          </a:prstGeom>
          <a:solidFill>
            <a:srgbClr val="253D6E"/>
          </a:solidFill>
          <a:ln w="12700">
            <a:solidFill>
              <a:srgbClr val="253D6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91072" y="30632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91072" y="34747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91072" y="3822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evaluation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736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Full Year  •  5 Snapshots  •  20,742 Loans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Portfolio Health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162763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1627632" cy="64008"/>
          </a:xfrm>
          <a:prstGeom prst="rect">
            <a:avLst/>
          </a:prstGeom>
          <a:solidFill>
            <a:srgbClr val="E85D26"/>
          </a:solidFill>
          <a:ln w="12700">
            <a:solidFill>
              <a:srgbClr val="E85D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PAR30+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38–39%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5361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30+ days past due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56816" y="804672"/>
            <a:ext cx="162763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56816" y="804672"/>
            <a:ext cx="1627632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48256" y="9326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 Rate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48256" y="1188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13→18%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48256" y="15361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Write-off rate rising all year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30752" y="804672"/>
            <a:ext cx="162763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30752" y="804672"/>
            <a:ext cx="1627632" cy="640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2192" y="9326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FPD Rate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22192" y="1188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6.8→5.5%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22192" y="15361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— better screening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504688" y="804672"/>
            <a:ext cx="162763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04688" y="804672"/>
            <a:ext cx="1627632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96128" y="9326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96128" y="1188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96128" y="15361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28 in every KES 100 uncollected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278624" y="804672"/>
            <a:ext cx="162763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78624" y="804672"/>
            <a:ext cx="1627632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70064" y="9326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Arrears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70064" y="1188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304M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70064" y="15361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growth in 12 months</a:t>
            </a:r>
            <a:endParaRPr lang="en-US" sz="8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182880" y="2240280"/>
          <a:ext cx="42976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0" name="Chart 1" descr=""/>
          <p:cNvGraphicFramePr/>
          <p:nvPr/>
        </p:nvGraphicFramePr>
        <p:xfrm>
          <a:off x="4663440" y="2240280"/>
          <a:ext cx="42976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Text 27"/>
          <p:cNvSpPr/>
          <p:nvPr/>
        </p:nvSpPr>
        <p:spPr>
          <a:xfrm>
            <a:off x="32004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Segment Deep-dive: Age 18–25 is the Fastest Rising Risk Group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49808"/>
            <a:ext cx="5760720" cy="2880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749808"/>
            <a:ext cx="28346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91072" y="960120"/>
            <a:ext cx="2505456" cy="777240"/>
          </a:xfrm>
          <a:prstGeom prst="rect">
            <a:avLst/>
          </a:prstGeom>
          <a:solidFill>
            <a:srgbClr val="FFF0EB"/>
          </a:solidFill>
          <a:ln w="10160">
            <a:solidFill>
              <a:srgbClr val="E85D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82512" y="1005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22→34%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382512" y="1362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PAR30 climb in 9 months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291072" y="1965960"/>
            <a:ext cx="2505456" cy="777240"/>
          </a:xfrm>
          <a:prstGeom prst="rect">
            <a:avLst/>
          </a:prstGeom>
          <a:solidFill>
            <a:srgbClr val="FFEAEA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82512" y="2011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pts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382512" y="2368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Steepest rise of any group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91072" y="2971800"/>
            <a:ext cx="2505456" cy="777240"/>
          </a:xfrm>
          <a:prstGeom prst="rect">
            <a:avLst/>
          </a:prstGeom>
          <a:solidFill>
            <a:srgbClr val="EBF5F0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2512" y="3017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46–55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382512" y="33741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stable segment (6→22%)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82880" y="3749040"/>
            <a:ext cx="8778240" cy="1143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3822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operationally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1480" y="409651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customers (18–25) typically earn irregular entry-level income. Once they miss one weekly payment, arrears compound and they disengage rather than call in. Collections teams are reaching them at Day 30+ when intervention at Day 7 is still effective. Fix: automate WhatsApp outreach at Day 3, call at Day 7, and apply tighter deposit requirements for this segment at origination.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2004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Income Band: Lower Income Consistently Higher Risk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49808"/>
            <a:ext cx="6858000" cy="2834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23760" y="822960"/>
            <a:ext cx="17373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269480" y="868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33.6%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269480" y="12252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PAR30 for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KES 5K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223760" y="1783080"/>
            <a:ext cx="17373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6948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269480" y="21854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PAR30 for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150K+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223760" y="2743200"/>
            <a:ext cx="1737360" cy="80467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26948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pts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269480" y="31455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— income 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predictor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82880" y="3730752"/>
            <a:ext cx="8778240" cy="1188720"/>
          </a:xfrm>
          <a:prstGeom prst="rect">
            <a:avLst/>
          </a:prstGeom>
          <a:solidFill>
            <a:srgbClr val="F0F4FA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379476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data only covers ~51% of the portfolio (linkage gap), so these figures are directional rather than definitive. Even so, the pattern is consistent: PAR30 falls 13 percentage points as income rises from Below KES 5K to KES 150K+. Affordability assessment at origination — not just credit bureau checks — would materially reduce front-end risk.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2004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NPS × Credit Performance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2011680" cy="2011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914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+5.9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288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NPS Score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2029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4,129 respondents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2880" y="292608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9809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317296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42.8%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34440" y="298094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n=1,705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" y="347472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3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5295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37216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20.4%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34440" y="352958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n=811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" y="402336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078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Detractors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42702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36.9%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234440" y="407822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n=1,469</a:t>
            </a:r>
            <a:endParaRPr lang="en-US" sz="8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749808"/>
            <a:ext cx="6583680" cy="42062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32004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Where Collections Friction Destroys Customer Experience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49808"/>
            <a:ext cx="877824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379476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D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3840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−1.37 pts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4114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locked despite paying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74320" y="43342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563 customers locked after paying on time. Nearly half became Detractors.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172968" y="379476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64408" y="3840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−3.09 pts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64408" y="4114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difficulty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264408" y="43342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single drop. 621 customers couldn't get through. Collections calls active, support not.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163056" y="3794760"/>
            <a:ext cx="2834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31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54496" y="3840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−1.24 pts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54496" y="4114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reflected late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54496" y="43342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722 customers saw delays in M-Pesa reflection — triggering wrongful locks.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2004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Recommendation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1920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3268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48-hour payment grace-period alert before any phone lock is triggered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locking a customer's phone, the system sends a WhatsApp/SMS confirming the exact amount received and the remaining balance. A 48-hour window allows M-Pesa payments to reconcile. Accounts where payment was received but DPD hasn't cleared are flagged as 'pending reconciliation' and exempt from auto-lock.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944368"/>
            <a:ext cx="269748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3017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+1.37 pts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84048" y="34015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recovery for wrongly-locked customers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2944368"/>
            <a:ext cx="269748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64408" y="3017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calls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64408" y="34015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support calls drop — the #1 NPS killer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2944368"/>
            <a:ext cx="269748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44768" y="3017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44768" y="34015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webhook data already exists in the system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279392"/>
          <a:ext cx="8595360" cy="658368"/>
        </p:xfrm>
        <a:graphic>
          <a:graphicData uri="http://schemas.openxmlformats.org/drawingml/2006/table">
            <a:tbl>
              <a:tblPr/>
              <a:tblGrid>
                <a:gridCol w="4572000"/>
                <a:gridCol w="2011680"/>
                <a:gridCol w="2011680"/>
              </a:tblGrid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NPS Drop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Affected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locked (paid on time)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−1.37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difficulty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−3.09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reflected late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−1.24 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Data Quality &amp; Limitations</a:t>
            </a:r>
            <a:endParaRPr lang="en-US" sz="1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49808"/>
            <a:ext cx="8778240" cy="288036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703320"/>
          <a:ext cx="8778240" cy="1234440"/>
        </p:xfrm>
        <a:graphic>
          <a:graphicData uri="http://schemas.openxmlformats.org/drawingml/2006/table">
            <a:tbl>
              <a:tblPr/>
              <a:tblGrid>
                <a:gridCol w="1005840"/>
                <a:gridCol w="2194560"/>
                <a:gridCol w="55778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CUSTOMER_AGE mislabelled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= 1.0 with days since sale. Field is loan age in days, not customer age.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~50% demographic 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DOB, Income, Gender sheets have 98–99% null Loan IDs. Half the portfolio has no demographics.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hierarchy broken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3,617 Write Off accounts sit inside PAR 30 (L2). L1/L2 mapping is inconsistent.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4A3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NPS timing mismatch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Surveys run Apr–Dec but joined to quarterly snapshots — up to 8 months apart.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32004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Three Specific Improvements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28346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49808"/>
            <a:ext cx="2834640" cy="5486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896112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" y="141732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Universal Customer 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965960"/>
            <a:ext cx="2615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demographic tables (DOB, income, gender) are keyed to Loan ID. When a customer takes a second loan, their history is lost. Assign a CUSTOMER_ID at onboarding. All tables join to it. Raises demographic linkage from ~50% to ~95%.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" y="4434840"/>
            <a:ext cx="2615184" cy="34747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443484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Linkage: 50% → 95%+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72968" y="749808"/>
            <a:ext cx="28346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749808"/>
            <a:ext cx="283464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82696" y="896112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82696" y="141732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and Document the Status Taxonomy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82696" y="1965960"/>
            <a:ext cx="2615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Off accounts sit inside PAR 30. Add STATUS_CHANGE_DATE and PREVIOUS_STATUS fields. Publish a transition matrix defining which L1 values are valid under each L2. Rename CUSTOMER_AGE to LOAN_AGE_DAYS.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82696" y="4434840"/>
            <a:ext cx="2615184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443484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cure rate &amp; migration analysis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63056" y="749808"/>
            <a:ext cx="28346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63056" y="749808"/>
            <a:ext cx="283464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896112"/>
            <a:ext cx="457200" cy="4572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72784" y="141732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NPS to Credit Status at Survey Time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72784" y="1965960"/>
            <a:ext cx="2615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NPS is joined to quarterly snapshots months after the survey. Log the customer's DPD, arrears, and account status at the exact moment they submit the survey. Store as NPS_SNAPSHOT_STATUS alongside the response.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72784" y="4434840"/>
            <a:ext cx="2615184" cy="3474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443484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causal NPS analysis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2026-04-19T00:42:36Z</dcterms:created>
  <dcterms:modified xsi:type="dcterms:W3CDTF">2026-04-19T00:42:36Z</dcterms:modified>
</cp:coreProperties>
</file>